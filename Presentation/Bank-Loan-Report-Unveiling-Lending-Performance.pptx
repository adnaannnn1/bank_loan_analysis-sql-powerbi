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  <p:sldId id="268" r:id="rId14"/>
  </p:sldIdLst>
  <p:sldSz cx="14630400" cy="8229600"/>
  <p:notesSz cx="8229600" cy="14630400"/>
  <p:embeddedFontLst>
    <p:embeddedFont>
      <p:font typeface="Fraunces Extra Bold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Nobile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092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7440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-31531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400259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Bank Loan Report: Unveiling Lending Performance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0369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report offers a comprehensive view of our bank's lending performance, leveraging interactive dashboards and SQL insights to track key metrics and identify potential risks.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-15766"/>
            <a:ext cx="14630400" cy="8245366"/>
            <a:chOff x="0" y="0"/>
            <a:chExt cx="14630400" cy="8245366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4630400" cy="2644259"/>
            </a:xfrm>
            <a:prstGeom prst="rect">
              <a:avLst/>
            </a:prstGeom>
          </p:spPr>
        </p:pic>
        <p:sp>
          <p:nvSpPr>
            <p:cNvPr id="3" name="Text 0"/>
            <p:cNvSpPr/>
            <p:nvPr/>
          </p:nvSpPr>
          <p:spPr>
            <a:xfrm>
              <a:off x="740331" y="3238976"/>
              <a:ext cx="10933986" cy="6610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5200"/>
                </a:lnSpc>
                <a:buNone/>
              </a:pPr>
              <a:r>
                <a:rPr lang="en-US" sz="4150" b="1" dirty="0">
                  <a:solidFill>
                    <a:srgbClr val="3B4540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Project Overview: Data-Driven Decisions</a:t>
              </a:r>
              <a:endParaRPr lang="en-US" sz="4150" dirty="0"/>
            </a:p>
          </p:txBody>
        </p:sp>
        <p:sp>
          <p:nvSpPr>
            <p:cNvPr id="4" name="Shape 1"/>
            <p:cNvSpPr/>
            <p:nvPr/>
          </p:nvSpPr>
          <p:spPr>
            <a:xfrm>
              <a:off x="740331" y="4217313"/>
              <a:ext cx="6469142" cy="1603058"/>
            </a:xfrm>
            <a:prstGeom prst="roundRect">
              <a:avLst>
                <a:gd name="adj" fmla="val 6845"/>
              </a:avLst>
            </a:prstGeom>
            <a:solidFill>
              <a:srgbClr val="FAFFFA"/>
            </a:solidFill>
            <a:ln w="22860">
              <a:solidFill>
                <a:srgbClr val="CED9CE"/>
              </a:solidFill>
              <a:prstDash val="solid"/>
            </a:ln>
          </p:spPr>
        </p:sp>
        <p:sp>
          <p:nvSpPr>
            <p:cNvPr id="5" name="Shape 2"/>
            <p:cNvSpPr/>
            <p:nvPr/>
          </p:nvSpPr>
          <p:spPr>
            <a:xfrm>
              <a:off x="717471" y="4217313"/>
              <a:ext cx="91440" cy="1603058"/>
            </a:xfrm>
            <a:prstGeom prst="roundRect">
              <a:avLst>
                <a:gd name="adj" fmla="val 208218"/>
              </a:avLst>
            </a:prstGeom>
            <a:solidFill>
              <a:srgbClr val="438951"/>
            </a:solidFill>
            <a:ln/>
          </p:spPr>
        </p:sp>
        <p:sp>
          <p:nvSpPr>
            <p:cNvPr id="6" name="Text 3"/>
            <p:cNvSpPr/>
            <p:nvPr/>
          </p:nvSpPr>
          <p:spPr>
            <a:xfrm>
              <a:off x="1043226" y="4451628"/>
              <a:ext cx="3374827" cy="3305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00"/>
                </a:lnSpc>
                <a:buNone/>
              </a:pPr>
              <a:r>
                <a:rPr lang="en-US" sz="205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Comprehensive Tracking</a:t>
              </a:r>
              <a:endParaRPr lang="en-US" sz="205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1043226" y="4909066"/>
              <a:ext cx="5931932" cy="6769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16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Monitors loan applications, funded amounts, repayments, interest rates, and borrower risk.</a:t>
              </a:r>
              <a:endParaRPr lang="en-US" sz="1650" dirty="0"/>
            </a:p>
          </p:txBody>
        </p:sp>
        <p:sp>
          <p:nvSpPr>
            <p:cNvPr id="8" name="Shape 5"/>
            <p:cNvSpPr/>
            <p:nvPr/>
          </p:nvSpPr>
          <p:spPr>
            <a:xfrm>
              <a:off x="7420928" y="4217313"/>
              <a:ext cx="6469142" cy="1603058"/>
            </a:xfrm>
            <a:prstGeom prst="roundRect">
              <a:avLst>
                <a:gd name="adj" fmla="val 6845"/>
              </a:avLst>
            </a:prstGeom>
            <a:solidFill>
              <a:srgbClr val="FAFFFA"/>
            </a:solidFill>
            <a:ln w="22860">
              <a:solidFill>
                <a:srgbClr val="CED9CE"/>
              </a:solidFill>
              <a:prstDash val="solid"/>
            </a:ln>
          </p:spPr>
        </p:sp>
        <p:sp>
          <p:nvSpPr>
            <p:cNvPr id="9" name="Shape 6"/>
            <p:cNvSpPr/>
            <p:nvPr/>
          </p:nvSpPr>
          <p:spPr>
            <a:xfrm>
              <a:off x="7398067" y="4217313"/>
              <a:ext cx="91440" cy="1603058"/>
            </a:xfrm>
            <a:prstGeom prst="roundRect">
              <a:avLst>
                <a:gd name="adj" fmla="val 208218"/>
              </a:avLst>
            </a:prstGeom>
            <a:solidFill>
              <a:srgbClr val="438951"/>
            </a:solidFill>
            <a:ln/>
          </p:spPr>
        </p:sp>
        <p:sp>
          <p:nvSpPr>
            <p:cNvPr id="10" name="Text 7"/>
            <p:cNvSpPr/>
            <p:nvPr/>
          </p:nvSpPr>
          <p:spPr>
            <a:xfrm>
              <a:off x="7723823" y="4451628"/>
              <a:ext cx="2644259" cy="3305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00"/>
                </a:lnSpc>
                <a:buNone/>
              </a:pPr>
              <a:r>
                <a:rPr lang="en-US" sz="205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Portfolio Quality</a:t>
              </a:r>
              <a:endParaRPr lang="en-US" sz="205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7723823" y="4909066"/>
              <a:ext cx="5931932" cy="6769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16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Classifies loans into 'Good' and 'Bad' categories to assess health and identify risks.</a:t>
              </a:r>
              <a:endParaRPr lang="en-US" sz="1650" dirty="0"/>
            </a:p>
          </p:txBody>
        </p:sp>
        <p:sp>
          <p:nvSpPr>
            <p:cNvPr id="12" name="Shape 9"/>
            <p:cNvSpPr/>
            <p:nvPr/>
          </p:nvSpPr>
          <p:spPr>
            <a:xfrm>
              <a:off x="740331" y="6031825"/>
              <a:ext cx="6469142" cy="1603058"/>
            </a:xfrm>
            <a:prstGeom prst="roundRect">
              <a:avLst>
                <a:gd name="adj" fmla="val 6845"/>
              </a:avLst>
            </a:prstGeom>
            <a:solidFill>
              <a:srgbClr val="FAFFFA"/>
            </a:solidFill>
            <a:ln w="22860">
              <a:solidFill>
                <a:srgbClr val="CED9CE"/>
              </a:solidFill>
              <a:prstDash val="solid"/>
            </a:ln>
          </p:spPr>
        </p:sp>
        <p:sp>
          <p:nvSpPr>
            <p:cNvPr id="13" name="Shape 10"/>
            <p:cNvSpPr/>
            <p:nvPr/>
          </p:nvSpPr>
          <p:spPr>
            <a:xfrm>
              <a:off x="717471" y="6031825"/>
              <a:ext cx="91440" cy="1603058"/>
            </a:xfrm>
            <a:prstGeom prst="roundRect">
              <a:avLst>
                <a:gd name="adj" fmla="val 208218"/>
              </a:avLst>
            </a:prstGeom>
            <a:solidFill>
              <a:srgbClr val="438951"/>
            </a:solidFill>
            <a:ln/>
          </p:spPr>
        </p:sp>
        <p:sp>
          <p:nvSpPr>
            <p:cNvPr id="14" name="Text 11"/>
            <p:cNvSpPr/>
            <p:nvPr/>
          </p:nvSpPr>
          <p:spPr>
            <a:xfrm>
              <a:off x="1043226" y="6266140"/>
              <a:ext cx="2644259" cy="3305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00"/>
                </a:lnSpc>
                <a:buNone/>
              </a:pPr>
              <a:r>
                <a:rPr lang="en-US" sz="205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Pattern Analysis</a:t>
              </a:r>
              <a:endParaRPr lang="en-US" sz="205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1043226" y="6723578"/>
              <a:ext cx="5931932" cy="6769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16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Analyzes trends, regions, and borrower profiles to uncover lending and repayment patterns.</a:t>
              </a:r>
              <a:endParaRPr lang="en-US" sz="165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7420928" y="6031825"/>
              <a:ext cx="6469142" cy="1603058"/>
            </a:xfrm>
            <a:prstGeom prst="roundRect">
              <a:avLst>
                <a:gd name="adj" fmla="val 6845"/>
              </a:avLst>
            </a:prstGeom>
            <a:solidFill>
              <a:srgbClr val="FAFFFA"/>
            </a:solidFill>
            <a:ln w="22860">
              <a:solidFill>
                <a:srgbClr val="CED9CE"/>
              </a:solidFill>
              <a:prstDash val="solid"/>
            </a:ln>
          </p:spPr>
        </p:sp>
        <p:sp>
          <p:nvSpPr>
            <p:cNvPr id="17" name="Shape 14"/>
            <p:cNvSpPr/>
            <p:nvPr/>
          </p:nvSpPr>
          <p:spPr>
            <a:xfrm>
              <a:off x="7398067" y="6031825"/>
              <a:ext cx="91440" cy="1603058"/>
            </a:xfrm>
            <a:prstGeom prst="roundRect">
              <a:avLst>
                <a:gd name="adj" fmla="val 208218"/>
              </a:avLst>
            </a:prstGeom>
            <a:solidFill>
              <a:srgbClr val="438951"/>
            </a:solidFill>
            <a:ln/>
          </p:spPr>
        </p:sp>
        <p:sp>
          <p:nvSpPr>
            <p:cNvPr id="18" name="Text 15"/>
            <p:cNvSpPr/>
            <p:nvPr/>
          </p:nvSpPr>
          <p:spPr>
            <a:xfrm>
              <a:off x="7723823" y="6266140"/>
              <a:ext cx="2749629" cy="3305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00"/>
                </a:lnSpc>
                <a:buNone/>
              </a:pPr>
              <a:r>
                <a:rPr lang="en-US" sz="205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Enhanced Efficiency</a:t>
              </a:r>
              <a:endParaRPr lang="en-US" sz="205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7723823" y="6723578"/>
              <a:ext cx="5931932" cy="67698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16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Enables data-driven decisions for portfolio health and operational efficiency.</a:t>
              </a:r>
              <a:endParaRPr lang="en-US" sz="1650" dirty="0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2833131" y="7772400"/>
              <a:ext cx="1797269" cy="47296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178832" y="206580"/>
            <a:ext cx="14372395" cy="7943625"/>
            <a:chOff x="742950" y="584954"/>
            <a:chExt cx="13958567" cy="7659935"/>
          </a:xfrm>
        </p:grpSpPr>
        <p:sp>
          <p:nvSpPr>
            <p:cNvPr id="2" name="Text 0"/>
            <p:cNvSpPr/>
            <p:nvPr/>
          </p:nvSpPr>
          <p:spPr>
            <a:xfrm>
              <a:off x="742950" y="584954"/>
              <a:ext cx="8615839" cy="66329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5200"/>
                </a:lnSpc>
                <a:buNone/>
              </a:pPr>
              <a:r>
                <a:rPr lang="en-US" sz="4150" b="1" dirty="0">
                  <a:solidFill>
                    <a:srgbClr val="3B4540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Dataset Summary: Key Features</a:t>
              </a:r>
              <a:endParaRPr lang="en-US" sz="4150" dirty="0"/>
            </a:p>
          </p:txBody>
        </p:sp>
        <p:sp>
          <p:nvSpPr>
            <p:cNvPr id="4" name="Text 1"/>
            <p:cNvSpPr/>
            <p:nvPr/>
          </p:nvSpPr>
          <p:spPr>
            <a:xfrm>
              <a:off x="1334998" y="2468642"/>
              <a:ext cx="2700695" cy="3317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00"/>
                </a:lnSpc>
                <a:buNone/>
              </a:pPr>
              <a:r>
                <a:rPr lang="en-US" sz="205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Loan &amp; Borrower ID</a:t>
              </a:r>
              <a:endParaRPr lang="en-US" sz="205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1334998" y="2927628"/>
              <a:ext cx="5432269" cy="3395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16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Loan ID, Issue Date, State, Purpose</a:t>
              </a:r>
              <a:endParaRPr lang="en-US" sz="1650" dirty="0"/>
            </a:p>
          </p:txBody>
        </p:sp>
        <p:sp>
          <p:nvSpPr>
            <p:cNvPr id="7" name="Text 3"/>
            <p:cNvSpPr/>
            <p:nvPr/>
          </p:nvSpPr>
          <p:spPr>
            <a:xfrm>
              <a:off x="7447836" y="2468642"/>
              <a:ext cx="2653427" cy="3317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00"/>
                </a:lnSpc>
                <a:buNone/>
              </a:pPr>
              <a:r>
                <a:rPr lang="en-US" sz="205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Financial Details</a:t>
              </a:r>
              <a:endParaRPr lang="en-US" sz="2050" dirty="0"/>
            </a:p>
          </p:txBody>
        </p:sp>
        <p:sp>
          <p:nvSpPr>
            <p:cNvPr id="8" name="Text 4"/>
            <p:cNvSpPr/>
            <p:nvPr/>
          </p:nvSpPr>
          <p:spPr>
            <a:xfrm>
              <a:off x="7447836" y="2927628"/>
              <a:ext cx="6439614" cy="3395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16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Loan Amount, Total Payment, Interest Rate, DTI</a:t>
              </a:r>
              <a:endParaRPr lang="en-US" sz="1650" dirty="0"/>
            </a:p>
          </p:txBody>
        </p:sp>
        <p:sp>
          <p:nvSpPr>
            <p:cNvPr id="10" name="Text 5"/>
            <p:cNvSpPr/>
            <p:nvPr/>
          </p:nvSpPr>
          <p:spPr>
            <a:xfrm>
              <a:off x="1334998" y="4487585"/>
              <a:ext cx="2653427" cy="3317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00"/>
                </a:lnSpc>
                <a:buNone/>
              </a:pPr>
              <a:r>
                <a:rPr lang="en-US" sz="205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Loan Status Info</a:t>
              </a:r>
              <a:endParaRPr lang="en-US" sz="2050" dirty="0"/>
            </a:p>
          </p:txBody>
        </p:sp>
        <p:sp>
          <p:nvSpPr>
            <p:cNvPr id="11" name="Text 6"/>
            <p:cNvSpPr/>
            <p:nvPr/>
          </p:nvSpPr>
          <p:spPr>
            <a:xfrm>
              <a:off x="1334998" y="4946571"/>
              <a:ext cx="5432269" cy="3395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16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Current Status, Good/Bad Loan Category</a:t>
              </a:r>
              <a:endParaRPr lang="en-US" sz="1650" dirty="0"/>
            </a:p>
          </p:txBody>
        </p:sp>
        <p:sp>
          <p:nvSpPr>
            <p:cNvPr id="13" name="Text 7"/>
            <p:cNvSpPr/>
            <p:nvPr/>
          </p:nvSpPr>
          <p:spPr>
            <a:xfrm>
              <a:off x="7447836" y="4487585"/>
              <a:ext cx="2653427" cy="3317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00"/>
                </a:lnSpc>
                <a:buNone/>
              </a:pPr>
              <a:r>
                <a:rPr lang="en-US" sz="205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Borrower Profile</a:t>
              </a:r>
              <a:endParaRPr lang="en-US" sz="2050" dirty="0"/>
            </a:p>
          </p:txBody>
        </p:sp>
        <p:sp>
          <p:nvSpPr>
            <p:cNvPr id="14" name="Text 8"/>
            <p:cNvSpPr/>
            <p:nvPr/>
          </p:nvSpPr>
          <p:spPr>
            <a:xfrm>
              <a:off x="7447836" y="4946571"/>
              <a:ext cx="6439614" cy="3395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16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Employment Length, Home Ownership, Loan Grade, Term</a:t>
              </a:r>
              <a:endParaRPr lang="en-US" sz="1650" dirty="0"/>
            </a:p>
          </p:txBody>
        </p:sp>
        <p:sp>
          <p:nvSpPr>
            <p:cNvPr id="16" name="Text 9"/>
            <p:cNvSpPr/>
            <p:nvPr/>
          </p:nvSpPr>
          <p:spPr>
            <a:xfrm>
              <a:off x="1334998" y="6506528"/>
              <a:ext cx="3064312" cy="3317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00"/>
                </a:lnSpc>
                <a:buNone/>
              </a:pPr>
              <a:r>
                <a:rPr lang="en-US" sz="205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Time-Based Attributes</a:t>
              </a:r>
              <a:endParaRPr lang="en-US" sz="2050" dirty="0"/>
            </a:p>
          </p:txBody>
        </p:sp>
        <p:sp>
          <p:nvSpPr>
            <p:cNvPr id="17" name="Text 10"/>
            <p:cNvSpPr/>
            <p:nvPr/>
          </p:nvSpPr>
          <p:spPr>
            <a:xfrm>
              <a:off x="1334998" y="6965513"/>
              <a:ext cx="5432269" cy="33956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16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Month/Year of Issue for MTD &amp; MoM analysis</a:t>
              </a:r>
              <a:endParaRPr lang="en-US" sz="1650" dirty="0"/>
            </a:p>
          </p:txBody>
        </p:sp>
        <p:sp>
          <p:nvSpPr>
            <p:cNvPr id="19" name="Text 11"/>
            <p:cNvSpPr/>
            <p:nvPr/>
          </p:nvSpPr>
          <p:spPr>
            <a:xfrm>
              <a:off x="7447836" y="6506528"/>
              <a:ext cx="2653427" cy="33170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600"/>
                </a:lnSpc>
                <a:buNone/>
              </a:pPr>
              <a:r>
                <a:rPr lang="en-US" sz="205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Segment Analysis</a:t>
              </a:r>
              <a:endParaRPr lang="en-US" sz="2050" dirty="0"/>
            </a:p>
          </p:txBody>
        </p:sp>
        <p:sp>
          <p:nvSpPr>
            <p:cNvPr id="20" name="Text 12"/>
            <p:cNvSpPr/>
            <p:nvPr/>
          </p:nvSpPr>
          <p:spPr>
            <a:xfrm>
              <a:off x="7447836" y="6965513"/>
              <a:ext cx="6439614" cy="6791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650"/>
                </a:lnSpc>
                <a:buNone/>
              </a:pPr>
              <a:r>
                <a:rPr lang="en-US" sz="16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Loan Purpose, Address State, Term, Home Ownership, Employment</a:t>
              </a:r>
              <a:endParaRPr lang="en-US" sz="1650" dirty="0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2904248" y="7771923"/>
              <a:ext cx="1797269" cy="47296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269557" y="179566"/>
            <a:ext cx="14335942" cy="8004636"/>
            <a:chOff x="755333" y="593527"/>
            <a:chExt cx="14018370" cy="7728037"/>
          </a:xfrm>
        </p:grpSpPr>
        <p:sp>
          <p:nvSpPr>
            <p:cNvPr id="2" name="Text 0"/>
            <p:cNvSpPr/>
            <p:nvPr/>
          </p:nvSpPr>
          <p:spPr>
            <a:xfrm>
              <a:off x="755333" y="593527"/>
              <a:ext cx="13119735" cy="13489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5300"/>
                </a:lnSpc>
                <a:buNone/>
              </a:pPr>
              <a:r>
                <a:rPr lang="en-US" sz="4200" b="1" dirty="0">
                  <a:solidFill>
                    <a:srgbClr val="3B4540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Bank Loan Summary: Key Performance Indicators</a:t>
              </a:r>
              <a:endParaRPr lang="en-US" sz="42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755333" y="2481977"/>
              <a:ext cx="3077647" cy="71223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5600"/>
                </a:lnSpc>
                <a:buNone/>
              </a:pPr>
              <a:r>
                <a:rPr lang="en-US" sz="5600" b="1" dirty="0" smtClean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38,576</a:t>
              </a:r>
              <a:endParaRPr lang="en-US" sz="560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755333" y="3463885"/>
              <a:ext cx="3077647" cy="6743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210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Total Loan Applications</a:t>
              </a:r>
              <a:endParaRPr lang="en-US" sz="2100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755333" y="4267676"/>
              <a:ext cx="3077647" cy="6905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700"/>
                </a:lnSpc>
                <a:buNone/>
              </a:pPr>
              <a:r>
                <a:rPr lang="en-US" sz="16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Overall applications processed.</a:t>
              </a:r>
              <a:endParaRPr lang="en-US" sz="165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4102656" y="2481977"/>
              <a:ext cx="3077647" cy="71223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5600"/>
                </a:lnSpc>
                <a:buNone/>
              </a:pPr>
              <a:r>
                <a:rPr lang="en-US" sz="560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$435.8M</a:t>
              </a:r>
              <a:endParaRPr lang="en-US" sz="56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4153853" y="3463885"/>
              <a:ext cx="2975134" cy="33718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210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Total Funded Amount</a:t>
              </a:r>
              <a:endParaRPr lang="en-US" sz="21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102656" y="3930491"/>
              <a:ext cx="3077647" cy="3452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700"/>
                </a:lnSpc>
                <a:buNone/>
              </a:pPr>
              <a:r>
                <a:rPr lang="en-US" sz="16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Total capital disbursed.</a:t>
              </a:r>
              <a:endParaRPr lang="en-US" sz="165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7449979" y="2481977"/>
              <a:ext cx="3077647" cy="71223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5600"/>
                </a:lnSpc>
                <a:buNone/>
              </a:pPr>
              <a:r>
                <a:rPr lang="en-US" sz="560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$473.1M</a:t>
              </a:r>
              <a:endParaRPr lang="en-US" sz="5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7449979" y="3463885"/>
              <a:ext cx="3077647" cy="67437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210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Total Amount Received</a:t>
              </a:r>
              <a:endParaRPr lang="en-US" sz="21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7449979" y="4267676"/>
              <a:ext cx="3077647" cy="6905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700"/>
                </a:lnSpc>
                <a:buNone/>
              </a:pPr>
              <a:r>
                <a:rPr lang="en-US" sz="16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Cumulative payments collected.</a:t>
              </a:r>
              <a:endParaRPr lang="en-US" sz="165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0797302" y="2481977"/>
              <a:ext cx="3077766" cy="71223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5600"/>
                </a:lnSpc>
                <a:buNone/>
              </a:pPr>
              <a:r>
                <a:rPr lang="en-US" sz="560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12.05%</a:t>
              </a:r>
              <a:endParaRPr lang="en-US" sz="56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10987207" y="3463885"/>
              <a:ext cx="2697837" cy="33718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210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Avg. Interest Rate</a:t>
              </a:r>
              <a:endParaRPr lang="en-US" sz="21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10797302" y="3930491"/>
              <a:ext cx="3077766" cy="34528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700"/>
                </a:lnSpc>
                <a:buNone/>
              </a:pPr>
              <a:r>
                <a:rPr lang="en-US" sz="16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Average rate across all loans.</a:t>
              </a:r>
              <a:endParaRPr lang="en-US" sz="16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776317" y="5497711"/>
              <a:ext cx="3077647" cy="71223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5600"/>
                </a:lnSpc>
                <a:buNone/>
              </a:pPr>
              <a:r>
                <a:rPr lang="en-US" sz="560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13.33%</a:t>
              </a:r>
              <a:endParaRPr lang="en-US" sz="5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5894546" y="6479619"/>
              <a:ext cx="2841069" cy="33718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650"/>
                </a:lnSpc>
                <a:buNone/>
              </a:pPr>
              <a:r>
                <a:rPr lang="en-US" sz="210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Avg. Debt-to-Income</a:t>
              </a:r>
              <a:endParaRPr lang="en-US" sz="21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5776317" y="6946225"/>
              <a:ext cx="3077647" cy="6905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700"/>
                </a:lnSpc>
                <a:buNone/>
              </a:pPr>
              <a:r>
                <a:rPr lang="en-US" sz="16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Average DTI ratio of borrowers.</a:t>
              </a:r>
              <a:endParaRPr lang="en-US" sz="1650" dirty="0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2976434" y="7848598"/>
              <a:ext cx="1797269" cy="47296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8032" y="351949"/>
            <a:ext cx="6451759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8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Month-to-Date Performance (Dec 2021)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48032" y="1087874"/>
            <a:ext cx="6451759" cy="947261"/>
          </a:xfrm>
          <a:prstGeom prst="roundRect">
            <a:avLst>
              <a:gd name="adj" fmla="val 14064"/>
            </a:avLst>
          </a:prstGeom>
          <a:solidFill>
            <a:srgbClr val="FAFFFA"/>
          </a:solidFill>
          <a:ln w="15240">
            <a:solidFill>
              <a:srgbClr val="CED9C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1263" y="1223248"/>
            <a:ext cx="2955978" cy="349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MTD Loan Applications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1264" y="1573061"/>
            <a:ext cx="4753246" cy="335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4,314 (Dec 2021) vs. 4,035 (Nov 2021)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8032" y="2165131"/>
            <a:ext cx="6451759" cy="924910"/>
          </a:xfrm>
          <a:prstGeom prst="roundRect">
            <a:avLst>
              <a:gd name="adj" fmla="val 14064"/>
            </a:avLst>
          </a:prstGeom>
          <a:solidFill>
            <a:srgbClr val="FAFFFA"/>
          </a:solidFill>
          <a:ln w="15240">
            <a:solidFill>
              <a:srgbClr val="CED9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1264" y="2305297"/>
            <a:ext cx="2782557" cy="32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MTD Funded Amount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1263" y="2633339"/>
            <a:ext cx="4169923" cy="291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$53.98M (Dec 2021) vs. $47.75M (Nov 2021)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32" y="3220037"/>
            <a:ext cx="6451759" cy="987886"/>
          </a:xfrm>
          <a:prstGeom prst="roundRect">
            <a:avLst>
              <a:gd name="adj" fmla="val 14064"/>
            </a:avLst>
          </a:prstGeom>
          <a:solidFill>
            <a:srgbClr val="FAFFFA"/>
          </a:solidFill>
          <a:ln w="15240">
            <a:solidFill>
              <a:srgbClr val="CED9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1263" y="3360203"/>
            <a:ext cx="2782557" cy="328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MTD Amount Received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1265" y="3688243"/>
            <a:ext cx="4028032" cy="342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$58.07M (Dec 2021) vs. $50.13M (Nov 2021)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32" y="4337919"/>
            <a:ext cx="6451759" cy="1029504"/>
          </a:xfrm>
          <a:prstGeom prst="roundRect">
            <a:avLst>
              <a:gd name="adj" fmla="val 14064"/>
            </a:avLst>
          </a:prstGeom>
          <a:solidFill>
            <a:srgbClr val="FAFFFA"/>
          </a:solidFill>
          <a:ln w="15240">
            <a:solidFill>
              <a:srgbClr val="CED9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1264" y="4478085"/>
            <a:ext cx="3066336" cy="32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MTD Avg. Interest Rate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91264" y="4806126"/>
            <a:ext cx="4359108" cy="412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12.36% (Dec 2021) vs. 11.94% (Nov 2021)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8032" y="5507589"/>
            <a:ext cx="6451759" cy="1019335"/>
          </a:xfrm>
          <a:prstGeom prst="roundRect">
            <a:avLst>
              <a:gd name="adj" fmla="val 14064"/>
            </a:avLst>
          </a:prstGeom>
          <a:solidFill>
            <a:srgbClr val="FAFFFA"/>
          </a:solidFill>
          <a:ln w="15240">
            <a:solidFill>
              <a:srgbClr val="CED9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1263" y="5647756"/>
            <a:ext cx="2955978" cy="32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MTD Avg. DTI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1264" y="5975797"/>
            <a:ext cx="4485233" cy="393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13.67% (Dec 2021) vs. 13.30% (Nov 2021)</a:t>
            </a:r>
            <a:endParaRPr lang="en-US" sz="12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341" y="1"/>
            <a:ext cx="7328059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0"/>
            <a:ext cx="14630400" cy="8229719"/>
            <a:chOff x="0" y="0"/>
            <a:chExt cx="14630400" cy="8229719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5486400" cy="8229719"/>
            </a:xfrm>
            <a:prstGeom prst="rect">
              <a:avLst/>
            </a:prstGeom>
          </p:spPr>
        </p:pic>
        <p:sp>
          <p:nvSpPr>
            <p:cNvPr id="3" name="Text 0"/>
            <p:cNvSpPr/>
            <p:nvPr/>
          </p:nvSpPr>
          <p:spPr>
            <a:xfrm>
              <a:off x="5940028" y="356354"/>
              <a:ext cx="3866124" cy="40505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150"/>
                </a:lnSpc>
                <a:buNone/>
              </a:pPr>
              <a:r>
                <a:rPr lang="en-US" sz="2800" b="1" dirty="0">
                  <a:solidFill>
                    <a:srgbClr val="3B4540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Loan Portfolio Quality</a:t>
              </a:r>
              <a:endParaRPr lang="en-US" sz="2800" dirty="0"/>
            </a:p>
          </p:txBody>
        </p:sp>
        <p:sp>
          <p:nvSpPr>
            <p:cNvPr id="4" name="Text 1"/>
            <p:cNvSpPr/>
            <p:nvPr/>
          </p:nvSpPr>
          <p:spPr>
            <a:xfrm>
              <a:off x="6560490" y="1916338"/>
              <a:ext cx="1594128" cy="3239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550"/>
                </a:lnSpc>
                <a:buNone/>
              </a:pPr>
              <a:r>
                <a:rPr lang="en-US" sz="255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86%</a:t>
              </a:r>
              <a:endParaRPr lang="en-US" sz="2550" dirty="0"/>
            </a:p>
          </p:txBody>
        </p:sp>
        <p:pic>
          <p:nvPicPr>
            <p:cNvPr id="5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85468" y="1100079"/>
              <a:ext cx="1944172" cy="1944172"/>
            </a:xfrm>
            <a:prstGeom prst="rect">
              <a:avLst/>
            </a:prstGeom>
          </p:spPr>
        </p:pic>
        <p:sp>
          <p:nvSpPr>
            <p:cNvPr id="6" name="Text 2"/>
            <p:cNvSpPr/>
            <p:nvPr/>
          </p:nvSpPr>
          <p:spPr>
            <a:xfrm>
              <a:off x="5940028" y="3300058"/>
              <a:ext cx="2888081" cy="32557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ts val="1550"/>
                </a:lnSpc>
                <a:buNone/>
              </a:pPr>
              <a:r>
                <a:rPr lang="en-US" sz="200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Good Loan Percentage</a:t>
              </a:r>
              <a:endParaRPr lang="en-US" sz="2000" dirty="0"/>
            </a:p>
          </p:txBody>
        </p:sp>
        <p:sp>
          <p:nvSpPr>
            <p:cNvPr id="7" name="Text 3"/>
            <p:cNvSpPr/>
            <p:nvPr/>
          </p:nvSpPr>
          <p:spPr>
            <a:xfrm>
              <a:off x="5940029" y="3688915"/>
              <a:ext cx="2872896" cy="3782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ts val="1600"/>
                </a:lnSpc>
                <a:buNone/>
              </a:pPr>
              <a:r>
                <a:rPr lang="en-US" sz="12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Loans that are Fully Paid or Current.</a:t>
              </a:r>
              <a:endParaRPr lang="en-US" sz="1200" dirty="0"/>
            </a:p>
          </p:txBody>
        </p:sp>
        <p:sp>
          <p:nvSpPr>
            <p:cNvPr id="8" name="Text 4"/>
            <p:cNvSpPr/>
            <p:nvPr/>
          </p:nvSpPr>
          <p:spPr>
            <a:xfrm>
              <a:off x="6587004" y="5174992"/>
              <a:ext cx="1594128" cy="3239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550"/>
                </a:lnSpc>
                <a:buNone/>
              </a:pPr>
              <a:r>
                <a:rPr lang="en-US" sz="2550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13%</a:t>
              </a:r>
              <a:endParaRPr lang="en-US" sz="2550" dirty="0"/>
            </a:p>
          </p:txBody>
        </p:sp>
        <p:pic>
          <p:nvPicPr>
            <p:cNvPr id="9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85468" y="4364891"/>
              <a:ext cx="1944172" cy="1944172"/>
            </a:xfrm>
            <a:prstGeom prst="rect">
              <a:avLst/>
            </a:prstGeom>
          </p:spPr>
        </p:pic>
        <p:sp>
          <p:nvSpPr>
            <p:cNvPr id="10" name="Text 5"/>
            <p:cNvSpPr/>
            <p:nvPr/>
          </p:nvSpPr>
          <p:spPr>
            <a:xfrm>
              <a:off x="5940027" y="6565221"/>
              <a:ext cx="2888081" cy="2939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ts val="1550"/>
                </a:lnSpc>
                <a:buNone/>
              </a:pPr>
              <a:r>
                <a:rPr lang="en-US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Bad Loan Percentage</a:t>
              </a:r>
              <a:endParaRPr lang="en-US" dirty="0"/>
            </a:p>
          </p:txBody>
        </p:sp>
        <p:sp>
          <p:nvSpPr>
            <p:cNvPr id="11" name="Text 6"/>
            <p:cNvSpPr/>
            <p:nvPr/>
          </p:nvSpPr>
          <p:spPr>
            <a:xfrm>
              <a:off x="5940028" y="6911467"/>
              <a:ext cx="2888082" cy="3722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ts val="1600"/>
                </a:lnSpc>
                <a:buNone/>
              </a:pPr>
              <a:r>
                <a:rPr lang="en-US" sz="12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Loans that are Charged Off.</a:t>
              </a:r>
              <a:endParaRPr lang="en-US" sz="1200" dirty="0"/>
            </a:p>
          </p:txBody>
        </p:sp>
        <p:sp>
          <p:nvSpPr>
            <p:cNvPr id="12" name="Text 7"/>
            <p:cNvSpPr/>
            <p:nvPr/>
          </p:nvSpPr>
          <p:spPr>
            <a:xfrm>
              <a:off x="10514078" y="1492591"/>
              <a:ext cx="2413645" cy="32718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b="1" dirty="0">
                  <a:solidFill>
                    <a:srgbClr val="3B4540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Good Loans</a:t>
              </a:r>
              <a:endParaRPr lang="en-US" dirty="0"/>
            </a:p>
          </p:txBody>
        </p:sp>
        <p:sp>
          <p:nvSpPr>
            <p:cNvPr id="13" name="Text 8"/>
            <p:cNvSpPr/>
            <p:nvPr/>
          </p:nvSpPr>
          <p:spPr>
            <a:xfrm>
              <a:off x="10514079" y="1865137"/>
              <a:ext cx="3960257" cy="32718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342900" indent="-342900" algn="l">
                <a:lnSpc>
                  <a:spcPts val="1600"/>
                </a:lnSpc>
                <a:buSzPct val="100000"/>
                <a:buChar char="•"/>
              </a:pPr>
              <a:r>
                <a:rPr lang="en-US" sz="14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Applications: 33,243</a:t>
              </a:r>
              <a:endParaRPr lang="en-US" sz="1400" dirty="0"/>
            </a:p>
          </p:txBody>
        </p:sp>
        <p:sp>
          <p:nvSpPr>
            <p:cNvPr id="14" name="Text 9"/>
            <p:cNvSpPr/>
            <p:nvPr/>
          </p:nvSpPr>
          <p:spPr>
            <a:xfrm>
              <a:off x="10514078" y="2188514"/>
              <a:ext cx="3960257" cy="37635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342900" indent="-342900" algn="l">
                <a:lnSpc>
                  <a:spcPts val="1600"/>
                </a:lnSpc>
                <a:buSzPct val="100000"/>
                <a:buChar char="•"/>
              </a:pPr>
              <a:r>
                <a:rPr lang="en-US" sz="14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Funded Amount: $370.2M</a:t>
              </a:r>
              <a:endParaRPr lang="en-US" sz="1400" dirty="0"/>
            </a:p>
          </p:txBody>
        </p:sp>
        <p:sp>
          <p:nvSpPr>
            <p:cNvPr id="15" name="Text 10"/>
            <p:cNvSpPr/>
            <p:nvPr/>
          </p:nvSpPr>
          <p:spPr>
            <a:xfrm>
              <a:off x="10514077" y="2546511"/>
              <a:ext cx="3960257" cy="38709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342900" indent="-342900" algn="l">
                <a:lnSpc>
                  <a:spcPts val="1600"/>
                </a:lnSpc>
                <a:buSzPct val="100000"/>
                <a:buChar char="•"/>
              </a:pPr>
              <a:r>
                <a:rPr lang="en-US" sz="14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Received Amount: $435.8M</a:t>
              </a:r>
              <a:endParaRPr lang="en-US" sz="1400" dirty="0"/>
            </a:p>
          </p:txBody>
        </p:sp>
        <p:sp>
          <p:nvSpPr>
            <p:cNvPr id="16" name="Text 11"/>
            <p:cNvSpPr/>
            <p:nvPr/>
          </p:nvSpPr>
          <p:spPr>
            <a:xfrm>
              <a:off x="10514079" y="4661461"/>
              <a:ext cx="1944172" cy="37254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ts val="1900"/>
                </a:lnSpc>
                <a:buNone/>
              </a:pPr>
              <a:r>
                <a:rPr lang="en-US" b="1" dirty="0">
                  <a:solidFill>
                    <a:srgbClr val="3B4540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Bad Loans</a:t>
              </a:r>
              <a:endParaRPr lang="en-US" dirty="0"/>
            </a:p>
          </p:txBody>
        </p:sp>
        <p:sp>
          <p:nvSpPr>
            <p:cNvPr id="17" name="Text 12"/>
            <p:cNvSpPr/>
            <p:nvPr/>
          </p:nvSpPr>
          <p:spPr>
            <a:xfrm>
              <a:off x="10514079" y="5034006"/>
              <a:ext cx="3960257" cy="36873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342900" indent="-342900" algn="l">
                <a:lnSpc>
                  <a:spcPts val="1600"/>
                </a:lnSpc>
                <a:buSzPct val="100000"/>
                <a:buChar char="•"/>
              </a:pPr>
              <a:r>
                <a:rPr lang="en-US" sz="14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Applications: 5,333</a:t>
              </a:r>
              <a:endParaRPr lang="en-US" sz="1400" dirty="0"/>
            </a:p>
          </p:txBody>
        </p:sp>
        <p:sp>
          <p:nvSpPr>
            <p:cNvPr id="18" name="Text 13"/>
            <p:cNvSpPr/>
            <p:nvPr/>
          </p:nvSpPr>
          <p:spPr>
            <a:xfrm>
              <a:off x="10514079" y="5416929"/>
              <a:ext cx="3960257" cy="37254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342900" indent="-342900" algn="l">
                <a:lnSpc>
                  <a:spcPts val="1600"/>
                </a:lnSpc>
                <a:buSzPct val="100000"/>
                <a:buChar char="•"/>
              </a:pPr>
              <a:r>
                <a:rPr lang="en-US" sz="14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Funded Amount: $65.5M</a:t>
              </a:r>
              <a:endParaRPr lang="en-US" sz="1400" dirty="0"/>
            </a:p>
          </p:txBody>
        </p:sp>
        <p:sp>
          <p:nvSpPr>
            <p:cNvPr id="19" name="Text 14"/>
            <p:cNvSpPr/>
            <p:nvPr/>
          </p:nvSpPr>
          <p:spPr>
            <a:xfrm>
              <a:off x="10514076" y="5789476"/>
              <a:ext cx="3960257" cy="37254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342900" indent="-342900" algn="l">
                <a:lnSpc>
                  <a:spcPts val="1600"/>
                </a:lnSpc>
                <a:buSzPct val="100000"/>
                <a:buChar char="•"/>
              </a:pPr>
              <a:r>
                <a:rPr lang="en-US" sz="14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Received Amount: $37.3M</a:t>
              </a:r>
              <a:endParaRPr lang="en-US" sz="1400" dirty="0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2833131" y="7756634"/>
              <a:ext cx="1797269" cy="47296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/>
          <p:cNvGrpSpPr/>
          <p:nvPr/>
        </p:nvGrpSpPr>
        <p:grpSpPr>
          <a:xfrm>
            <a:off x="652223" y="548217"/>
            <a:ext cx="13978177" cy="7681383"/>
            <a:chOff x="652223" y="548217"/>
            <a:chExt cx="13978177" cy="7681383"/>
          </a:xfrm>
        </p:grpSpPr>
        <p:sp>
          <p:nvSpPr>
            <p:cNvPr id="2" name="Text 0"/>
            <p:cNvSpPr/>
            <p:nvPr/>
          </p:nvSpPr>
          <p:spPr>
            <a:xfrm>
              <a:off x="793790" y="548217"/>
              <a:ext cx="6349365" cy="7087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5550"/>
                </a:lnSpc>
                <a:buNone/>
              </a:pPr>
              <a:r>
                <a:rPr lang="en-US" sz="3600" b="1" dirty="0">
                  <a:solidFill>
                    <a:srgbClr val="3B4540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Loan Status Summary</a:t>
              </a:r>
              <a:endParaRPr lang="en-US" sz="36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652224" y="2059948"/>
              <a:ext cx="13063250" cy="2621043"/>
            </a:xfrm>
            <a:prstGeom prst="roundRect">
              <a:avLst>
                <a:gd name="adj" fmla="val 10383"/>
              </a:avLst>
            </a:prstGeom>
            <a:noFill/>
            <a:ln w="7620">
              <a:solidFill>
                <a:srgbClr val="000000">
                  <a:alpha val="8000"/>
                </a:srgbClr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652224" y="2710267"/>
              <a:ext cx="13047986" cy="653347"/>
            </a:xfrm>
            <a:prstGeom prst="rect">
              <a:avLst/>
            </a:prstGeom>
            <a:solidFill>
              <a:srgbClr val="FFFFFF">
                <a:alpha val="4000"/>
              </a:srgbClr>
            </a:solidFill>
            <a:ln/>
          </p:spPr>
        </p:sp>
        <p:sp>
          <p:nvSpPr>
            <p:cNvPr id="5" name="Text 3"/>
            <p:cNvSpPr/>
            <p:nvPr/>
          </p:nvSpPr>
          <p:spPr>
            <a:xfrm>
              <a:off x="879514" y="2853975"/>
              <a:ext cx="2151371" cy="3645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Current</a:t>
              </a:r>
              <a:endParaRPr lang="en-US" sz="175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488769" y="2853975"/>
              <a:ext cx="2147555" cy="3645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1,098</a:t>
              </a:r>
              <a:endParaRPr lang="en-US" sz="175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6094213" y="2853975"/>
              <a:ext cx="2147555" cy="3645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$24.2M</a:t>
              </a:r>
              <a:endParaRPr lang="en-US" sz="175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8699658" y="2853975"/>
              <a:ext cx="2147555" cy="3645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$18.9M</a:t>
              </a:r>
              <a:endParaRPr lang="en-US" sz="175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11305103" y="2853975"/>
              <a:ext cx="842733" cy="3645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15.10%</a:t>
              </a:r>
              <a:endParaRPr lang="en-US" sz="175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2607766" y="2853975"/>
              <a:ext cx="846549" cy="3645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14.72%</a:t>
              </a:r>
              <a:endParaRPr lang="en-US" sz="175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652224" y="3360586"/>
              <a:ext cx="13047986" cy="653347"/>
            </a:xfrm>
            <a:prstGeom prst="rect">
              <a:avLst/>
            </a:prstGeom>
            <a:solidFill>
              <a:srgbClr val="000000">
                <a:alpha val="4000"/>
              </a:srgbClr>
            </a:solidFill>
            <a:ln/>
          </p:spPr>
        </p:sp>
        <p:sp>
          <p:nvSpPr>
            <p:cNvPr id="12" name="Text 10"/>
            <p:cNvSpPr/>
            <p:nvPr/>
          </p:nvSpPr>
          <p:spPr>
            <a:xfrm>
              <a:off x="879514" y="3504295"/>
              <a:ext cx="2151371" cy="3645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Fully Paid</a:t>
              </a:r>
              <a:endParaRPr lang="en-US" sz="175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488769" y="3504295"/>
              <a:ext cx="2147555" cy="3645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32,145</a:t>
              </a:r>
              <a:endParaRPr lang="en-US" sz="17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6094213" y="3504295"/>
              <a:ext cx="2147555" cy="3645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$411.6M</a:t>
              </a:r>
              <a:endParaRPr lang="en-US" sz="17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8699658" y="3504295"/>
              <a:ext cx="2147555" cy="3645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$351.4M</a:t>
              </a:r>
              <a:endParaRPr lang="en-US" sz="17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11305103" y="3504295"/>
              <a:ext cx="842733" cy="3645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11.64%</a:t>
              </a:r>
              <a:endParaRPr lang="en-US" sz="17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2607766" y="3504295"/>
              <a:ext cx="846549" cy="3645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13.17%</a:t>
              </a:r>
              <a:endParaRPr lang="en-US" sz="175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652224" y="4010906"/>
              <a:ext cx="13047986" cy="653347"/>
            </a:xfrm>
            <a:prstGeom prst="rect">
              <a:avLst/>
            </a:prstGeom>
            <a:solidFill>
              <a:srgbClr val="FFFFFF">
                <a:alpha val="4000"/>
              </a:srgbClr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879514" y="4154614"/>
              <a:ext cx="2151371" cy="3645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Charged Off</a:t>
              </a:r>
              <a:endParaRPr lang="en-US" sz="175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3488769" y="4154614"/>
              <a:ext cx="2147555" cy="3645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5,333</a:t>
              </a:r>
              <a:endParaRPr lang="en-US" sz="175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6094213" y="4154614"/>
              <a:ext cx="2147555" cy="3645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$37.3M</a:t>
              </a:r>
              <a:endParaRPr lang="en-US" sz="175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8699658" y="4154614"/>
              <a:ext cx="2147555" cy="3645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$65.5M</a:t>
              </a:r>
              <a:endParaRPr lang="en-US" sz="175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11305103" y="4154614"/>
              <a:ext cx="842733" cy="3645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13.88%</a:t>
              </a:r>
              <a:endParaRPr lang="en-US" sz="175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12607766" y="4154614"/>
              <a:ext cx="846549" cy="3645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14.00%</a:t>
              </a:r>
              <a:endParaRPr lang="en-US" sz="1750" dirty="0"/>
            </a:p>
          </p:txBody>
        </p:sp>
        <p:sp>
          <p:nvSpPr>
            <p:cNvPr id="25" name="Shape 2"/>
            <p:cNvSpPr/>
            <p:nvPr/>
          </p:nvSpPr>
          <p:spPr>
            <a:xfrm>
              <a:off x="652223" y="2059948"/>
              <a:ext cx="13040367" cy="653347"/>
            </a:xfrm>
            <a:prstGeom prst="rect">
              <a:avLst/>
            </a:prstGeom>
            <a:solidFill>
              <a:srgbClr val="000000">
                <a:alpha val="4000"/>
              </a:srgbClr>
            </a:solidFill>
            <a:ln/>
          </p:spPr>
        </p:sp>
        <p:sp>
          <p:nvSpPr>
            <p:cNvPr id="26" name="Text 10"/>
            <p:cNvSpPr/>
            <p:nvPr/>
          </p:nvSpPr>
          <p:spPr>
            <a:xfrm>
              <a:off x="885642" y="2206831"/>
              <a:ext cx="2151371" cy="3645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b="1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Loan</a:t>
              </a:r>
              <a:r>
                <a:rPr lang="en-US" sz="2000" b="1" dirty="0" smtClean="0"/>
                <a:t> </a:t>
              </a:r>
              <a:r>
                <a:rPr lang="en-US" sz="1750" b="1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Status</a:t>
              </a:r>
              <a:endPara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endParaRPr>
            </a:p>
          </p:txBody>
        </p:sp>
        <p:sp>
          <p:nvSpPr>
            <p:cNvPr id="27" name="Text 11"/>
            <p:cNvSpPr/>
            <p:nvPr/>
          </p:nvSpPr>
          <p:spPr>
            <a:xfrm>
              <a:off x="3488769" y="2203655"/>
              <a:ext cx="2147555" cy="3645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850"/>
                </a:lnSpc>
              </a:pPr>
              <a:r>
                <a:rPr lang="en-US" sz="1750" b="1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Loan Applications</a:t>
              </a:r>
              <a:endPara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endParaRPr>
            </a:p>
          </p:txBody>
        </p:sp>
        <p:sp>
          <p:nvSpPr>
            <p:cNvPr id="28" name="Text 12"/>
            <p:cNvSpPr/>
            <p:nvPr/>
          </p:nvSpPr>
          <p:spPr>
            <a:xfrm>
              <a:off x="6088086" y="2203654"/>
              <a:ext cx="2147555" cy="3645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>
                <a:lnSpc>
                  <a:spcPts val="2850"/>
                </a:lnSpc>
                <a:buNone/>
              </a:pPr>
              <a:r>
                <a:rPr lang="en-US" sz="1750" b="1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Received Amount</a:t>
              </a:r>
              <a:endPara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endParaRPr>
            </a:p>
          </p:txBody>
        </p:sp>
        <p:sp>
          <p:nvSpPr>
            <p:cNvPr id="29" name="Text 13"/>
            <p:cNvSpPr/>
            <p:nvPr/>
          </p:nvSpPr>
          <p:spPr>
            <a:xfrm>
              <a:off x="8699657" y="2206831"/>
              <a:ext cx="2147555" cy="3645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850"/>
                </a:lnSpc>
              </a:pPr>
              <a:r>
                <a:rPr lang="en-US" sz="1750" b="1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Funded Amount</a:t>
              </a:r>
              <a:endPara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endParaRPr>
            </a:p>
          </p:txBody>
        </p:sp>
        <p:sp>
          <p:nvSpPr>
            <p:cNvPr id="30" name="Text 14"/>
            <p:cNvSpPr/>
            <p:nvPr/>
          </p:nvSpPr>
          <p:spPr>
            <a:xfrm>
              <a:off x="11311227" y="2222596"/>
              <a:ext cx="1074703" cy="3455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indent="0">
                <a:lnSpc>
                  <a:spcPts val="2850"/>
                </a:lnSpc>
                <a:buNone/>
              </a:pPr>
              <a:r>
                <a:rPr lang="en-US" sz="1750" b="1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Int Rate</a:t>
              </a:r>
              <a:endPara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endParaRPr>
            </a:p>
          </p:txBody>
        </p:sp>
        <p:sp>
          <p:nvSpPr>
            <p:cNvPr id="31" name="Text 15"/>
            <p:cNvSpPr/>
            <p:nvPr/>
          </p:nvSpPr>
          <p:spPr>
            <a:xfrm>
              <a:off x="12605605" y="2206831"/>
              <a:ext cx="846549" cy="36459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850"/>
                </a:lnSpc>
              </a:pPr>
              <a:r>
                <a:rPr lang="en-US" sz="1750" b="1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DTI</a:t>
              </a:r>
              <a:endPara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endParaRPr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12833131" y="7756634"/>
              <a:ext cx="1797269" cy="47296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652" y="365879"/>
            <a:ext cx="6723423" cy="415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3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Loan Applications by Month </a:t>
            </a:r>
            <a:r>
              <a:rPr lang="en-US" sz="3200" b="1" dirty="0" smtClean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&amp; </a:t>
            </a:r>
            <a:r>
              <a:rPr lang="en-US" sz="3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State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65652" y="931307"/>
            <a:ext cx="2293313" cy="432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Monthly Trends</a:t>
            </a: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52" y="1528630"/>
            <a:ext cx="6376581" cy="37447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5653" y="5438392"/>
            <a:ext cx="6218926" cy="7406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Loan applications show a steady increase throughout the </a:t>
            </a:r>
            <a:r>
              <a:rPr lang="en-US" sz="1600" dirty="0" smtClean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year,</a:t>
            </a:r>
          </a:p>
          <a:p>
            <a:pPr marL="0" indent="0" algn="l">
              <a:lnSpc>
                <a:spcPts val="1650"/>
              </a:lnSpc>
              <a:buNone/>
            </a:pPr>
            <a:r>
              <a:rPr lang="en-US" sz="1600" dirty="0" smtClean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peaking </a:t>
            </a:r>
            <a:r>
              <a:rPr lang="en-US" sz="16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 December.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485101" y="783009"/>
            <a:ext cx="2273753" cy="331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20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Top States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485103" y="1114188"/>
            <a:ext cx="5174608" cy="305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4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California</a:t>
            </a: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6,894 </a:t>
            </a:r>
            <a:r>
              <a:rPr lang="en-US" sz="1400" dirty="0" smtClean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85102" y="1420179"/>
            <a:ext cx="5174610" cy="305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4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New York: </a:t>
            </a: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3,701 applications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85103" y="1726169"/>
            <a:ext cx="5174608" cy="305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4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Florida</a:t>
            </a: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2,773 applications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85101" y="2035203"/>
            <a:ext cx="5174611" cy="302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4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Texas: </a:t>
            </a: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2,664 applications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85101" y="2338148"/>
            <a:ext cx="5174611" cy="3090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342900" indent="-342900" algn="l">
              <a:lnSpc>
                <a:spcPts val="1650"/>
              </a:lnSpc>
              <a:buSzPct val="100000"/>
              <a:buChar char="•"/>
            </a:pPr>
            <a:r>
              <a:rPr lang="en-US" sz="14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New Jersey: </a:t>
            </a: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1,822 applications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5784" y="2647183"/>
            <a:ext cx="6834616" cy="55824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4630400" cy="8229600"/>
            <a:chOff x="0" y="0"/>
            <a:chExt cx="14630400" cy="8229600"/>
          </a:xfrm>
        </p:grpSpPr>
        <p:pic>
          <p:nvPicPr>
            <p:cNvPr id="2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5486400" cy="8229599"/>
            </a:xfrm>
            <a:prstGeom prst="rect">
              <a:avLst/>
            </a:prstGeom>
          </p:spPr>
        </p:pic>
        <p:sp>
          <p:nvSpPr>
            <p:cNvPr id="3" name="Text 0"/>
            <p:cNvSpPr/>
            <p:nvPr/>
          </p:nvSpPr>
          <p:spPr>
            <a:xfrm>
              <a:off x="6119336" y="498038"/>
              <a:ext cx="7878128" cy="11303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4450"/>
                </a:lnSpc>
                <a:buNone/>
              </a:pPr>
              <a:r>
                <a:rPr lang="en-US" sz="3550" b="1" dirty="0">
                  <a:solidFill>
                    <a:srgbClr val="3B4540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Loan Overview: Term, Employment &amp; Purpose</a:t>
              </a:r>
              <a:endParaRPr lang="en-US" sz="3550" dirty="0"/>
            </a:p>
          </p:txBody>
        </p:sp>
        <p:sp>
          <p:nvSpPr>
            <p:cNvPr id="4" name="Shape 1"/>
            <p:cNvSpPr/>
            <p:nvPr/>
          </p:nvSpPr>
          <p:spPr>
            <a:xfrm>
              <a:off x="6119336" y="1899642"/>
              <a:ext cx="22860" cy="5831919"/>
            </a:xfrm>
            <a:prstGeom prst="roundRect">
              <a:avLst>
                <a:gd name="adj" fmla="val 712096"/>
              </a:avLst>
            </a:prstGeom>
            <a:solidFill>
              <a:srgbClr val="CED9CE"/>
            </a:solidFill>
            <a:ln/>
          </p:spPr>
        </p:sp>
        <p:sp>
          <p:nvSpPr>
            <p:cNvPr id="5" name="Shape 2"/>
            <p:cNvSpPr/>
            <p:nvPr/>
          </p:nvSpPr>
          <p:spPr>
            <a:xfrm>
              <a:off x="6142196" y="1899642"/>
              <a:ext cx="7878128" cy="1331357"/>
            </a:xfrm>
            <a:prstGeom prst="rect">
              <a:avLst/>
            </a:prstGeom>
            <a:solidFill>
              <a:srgbClr val="E8F3E8"/>
            </a:solidFill>
            <a:ln/>
          </p:spPr>
        </p:sp>
        <p:sp>
          <p:nvSpPr>
            <p:cNvPr id="6" name="Text 3"/>
            <p:cNvSpPr/>
            <p:nvPr/>
          </p:nvSpPr>
          <p:spPr>
            <a:xfrm>
              <a:off x="6323052" y="2080498"/>
              <a:ext cx="2260878" cy="2825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Loan Term</a:t>
              </a:r>
              <a:endParaRPr lang="en-US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6323052" y="2471499"/>
              <a:ext cx="7516416" cy="5786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250"/>
                </a:lnSpc>
                <a:buNone/>
              </a:pPr>
              <a:r>
                <a:rPr lang="en-US" sz="14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36-month terms dominate with 28,237 applications, compared to 10,339 for 60-month terms.</a:t>
              </a:r>
              <a:endParaRPr lang="en-US" sz="1400" dirty="0"/>
            </a:p>
          </p:txBody>
        </p:sp>
        <p:sp>
          <p:nvSpPr>
            <p:cNvPr id="8" name="Shape 5"/>
            <p:cNvSpPr/>
            <p:nvPr/>
          </p:nvSpPr>
          <p:spPr>
            <a:xfrm>
              <a:off x="6142196" y="3592711"/>
              <a:ext cx="7878128" cy="1042035"/>
            </a:xfrm>
            <a:prstGeom prst="rect">
              <a:avLst/>
            </a:prstGeom>
            <a:solidFill>
              <a:srgbClr val="E8F3E8"/>
            </a:solidFill>
            <a:ln/>
          </p:spPr>
        </p:sp>
        <p:sp>
          <p:nvSpPr>
            <p:cNvPr id="9" name="Text 6"/>
            <p:cNvSpPr/>
            <p:nvPr/>
          </p:nvSpPr>
          <p:spPr>
            <a:xfrm>
              <a:off x="6323052" y="3773567"/>
              <a:ext cx="2331720" cy="2825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Employment Length</a:t>
              </a:r>
              <a:endParaRPr lang="en-US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6323052" y="4164568"/>
              <a:ext cx="7516416" cy="2893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50"/>
                </a:lnSpc>
                <a:buNone/>
              </a:pPr>
              <a:r>
                <a:rPr lang="en-US" sz="14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Borrowers with 10+ years of employment submit the most applications (8,870).</a:t>
              </a:r>
              <a:endParaRPr lang="en-US" sz="1400" dirty="0"/>
            </a:p>
          </p:txBody>
        </p:sp>
        <p:sp>
          <p:nvSpPr>
            <p:cNvPr id="11" name="Shape 8"/>
            <p:cNvSpPr/>
            <p:nvPr/>
          </p:nvSpPr>
          <p:spPr>
            <a:xfrm>
              <a:off x="6142196" y="4996458"/>
              <a:ext cx="7878128" cy="1331357"/>
            </a:xfrm>
            <a:prstGeom prst="rect">
              <a:avLst/>
            </a:prstGeom>
            <a:solidFill>
              <a:srgbClr val="E8F3E8"/>
            </a:solidFill>
            <a:ln/>
          </p:spPr>
        </p:sp>
        <p:sp>
          <p:nvSpPr>
            <p:cNvPr id="12" name="Text 9"/>
            <p:cNvSpPr/>
            <p:nvPr/>
          </p:nvSpPr>
          <p:spPr>
            <a:xfrm>
              <a:off x="6323052" y="5177314"/>
              <a:ext cx="2260878" cy="2825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Loan Purpose</a:t>
              </a:r>
              <a:endParaRPr lang="en-US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6323052" y="5568315"/>
              <a:ext cx="7516416" cy="5786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250"/>
                </a:lnSpc>
                <a:buNone/>
              </a:pPr>
              <a:r>
                <a:rPr lang="en-US" sz="14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Debt consolidation is the primary purpose (18,214 applications), followed by credit card (4,998).</a:t>
              </a:r>
              <a:endParaRPr lang="en-US" sz="1400" dirty="0"/>
            </a:p>
          </p:txBody>
        </p:sp>
        <p:sp>
          <p:nvSpPr>
            <p:cNvPr id="14" name="Shape 11"/>
            <p:cNvSpPr/>
            <p:nvPr/>
          </p:nvSpPr>
          <p:spPr>
            <a:xfrm>
              <a:off x="6142196" y="6689527"/>
              <a:ext cx="7878128" cy="1042035"/>
            </a:xfrm>
            <a:prstGeom prst="rect">
              <a:avLst/>
            </a:prstGeom>
            <a:solidFill>
              <a:srgbClr val="E8F3E8"/>
            </a:solidFill>
            <a:ln/>
          </p:spPr>
        </p:sp>
        <p:sp>
          <p:nvSpPr>
            <p:cNvPr id="15" name="Text 12"/>
            <p:cNvSpPr/>
            <p:nvPr/>
          </p:nvSpPr>
          <p:spPr>
            <a:xfrm>
              <a:off x="6323052" y="6870382"/>
              <a:ext cx="2260878" cy="28253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Home Ownership</a:t>
              </a:r>
              <a:endParaRPr lang="en-US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6323052" y="7261384"/>
              <a:ext cx="7516416" cy="28932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50"/>
                </a:lnSpc>
                <a:buNone/>
              </a:pPr>
              <a:r>
                <a:rPr lang="en-US" sz="14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Renters (18,439) and mortgage holders (17,198) are the largest segments.</a:t>
              </a:r>
              <a:endParaRPr lang="en-US" sz="1400" dirty="0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12833131" y="7756634"/>
              <a:ext cx="1797269" cy="47296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87788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39"/>
            <a:ext cx="14630400" cy="8221361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7381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446008" y="334566"/>
            <a:ext cx="14184392" cy="7895034"/>
            <a:chOff x="617458" y="486966"/>
            <a:chExt cx="14184392" cy="7895034"/>
          </a:xfrm>
        </p:grpSpPr>
        <p:sp>
          <p:nvSpPr>
            <p:cNvPr id="2" name="Text 0"/>
            <p:cNvSpPr/>
            <p:nvPr/>
          </p:nvSpPr>
          <p:spPr>
            <a:xfrm>
              <a:off x="617458" y="486966"/>
              <a:ext cx="6302335" cy="55137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4300"/>
                </a:lnSpc>
                <a:buNone/>
              </a:pPr>
              <a:r>
                <a:rPr lang="en-US" sz="3450" b="1" dirty="0">
                  <a:solidFill>
                    <a:srgbClr val="3B4540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Business Recommendations</a:t>
              </a:r>
              <a:endParaRPr lang="en-US" sz="3450" dirty="0"/>
            </a:p>
          </p:txBody>
        </p:sp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7458" y="1391126"/>
              <a:ext cx="882134" cy="1058585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1675924" y="1567458"/>
              <a:ext cx="2205514" cy="2756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ts val="2150"/>
                </a:lnSpc>
                <a:buNone/>
              </a:pPr>
              <a:r>
                <a:rPr lang="en-US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Risk-Based Pricing</a:t>
              </a:r>
              <a:endParaRPr lang="en-US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1675924" y="1948934"/>
              <a:ext cx="8997331" cy="4232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14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Adjust interest rates based on employment stability and borrower risk profiles.</a:t>
              </a:r>
              <a:endParaRPr lang="en-US" sz="1400" dirty="0"/>
            </a:p>
          </p:txBody>
        </p:sp>
        <p:pic>
          <p:nvPicPr>
            <p:cNvPr id="6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7458" y="2449711"/>
              <a:ext cx="882134" cy="1058585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1675924" y="2626043"/>
              <a:ext cx="2573060" cy="2756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ts val="2150"/>
                </a:lnSpc>
                <a:buNone/>
              </a:pPr>
              <a:r>
                <a:rPr lang="en-US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Expand Loan Offerings</a:t>
              </a:r>
              <a:endParaRPr lang="en-US" dirty="0"/>
            </a:p>
          </p:txBody>
        </p:sp>
        <p:sp>
          <p:nvSpPr>
            <p:cNvPr id="8" name="Text 4"/>
            <p:cNvSpPr/>
            <p:nvPr/>
          </p:nvSpPr>
          <p:spPr>
            <a:xfrm>
              <a:off x="1675924" y="3007519"/>
              <a:ext cx="8997331" cy="5007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14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Launch specialized debt consolidation and credit card refinancing products.</a:t>
              </a:r>
              <a:endParaRPr lang="en-US" sz="1400" dirty="0"/>
            </a:p>
          </p:txBody>
        </p:sp>
        <p:pic>
          <p:nvPicPr>
            <p:cNvPr id="9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7458" y="3508296"/>
              <a:ext cx="882134" cy="1058585"/>
            </a:xfrm>
            <a:prstGeom prst="rect">
              <a:avLst/>
            </a:prstGeom>
          </p:spPr>
        </p:pic>
        <p:sp>
          <p:nvSpPr>
            <p:cNvPr id="10" name="Text 5"/>
            <p:cNvSpPr/>
            <p:nvPr/>
          </p:nvSpPr>
          <p:spPr>
            <a:xfrm>
              <a:off x="1675924" y="3684627"/>
              <a:ext cx="2649498" cy="2756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ts val="2150"/>
                </a:lnSpc>
                <a:buNone/>
              </a:pPr>
              <a:r>
                <a:rPr lang="en-US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Strengthen Verification</a:t>
              </a:r>
              <a:endParaRPr lang="en-US" dirty="0"/>
            </a:p>
          </p:txBody>
        </p:sp>
        <p:sp>
          <p:nvSpPr>
            <p:cNvPr id="11" name="Text 6"/>
            <p:cNvSpPr/>
            <p:nvPr/>
          </p:nvSpPr>
          <p:spPr>
            <a:xfrm>
              <a:off x="1675924" y="4066103"/>
              <a:ext cx="8997331" cy="4519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14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Enhance employment and income verification to reduce defaults.</a:t>
              </a:r>
              <a:endParaRPr lang="en-US" sz="1400" dirty="0"/>
            </a:p>
          </p:txBody>
        </p:sp>
        <p:pic>
          <p:nvPicPr>
            <p:cNvPr id="12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7458" y="4566880"/>
              <a:ext cx="882134" cy="1058585"/>
            </a:xfrm>
            <a:prstGeom prst="rect">
              <a:avLst/>
            </a:prstGeom>
          </p:spPr>
        </p:pic>
        <p:sp>
          <p:nvSpPr>
            <p:cNvPr id="13" name="Text 7"/>
            <p:cNvSpPr/>
            <p:nvPr/>
          </p:nvSpPr>
          <p:spPr>
            <a:xfrm>
              <a:off x="1675924" y="4743212"/>
              <a:ext cx="2980730" cy="2756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ts val="2150"/>
                </a:lnSpc>
                <a:buNone/>
              </a:pPr>
              <a:r>
                <a:rPr lang="en-US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Focus on High-Performers</a:t>
              </a:r>
              <a:endParaRPr lang="en-US" dirty="0"/>
            </a:p>
          </p:txBody>
        </p:sp>
        <p:sp>
          <p:nvSpPr>
            <p:cNvPr id="14" name="Text 8"/>
            <p:cNvSpPr/>
            <p:nvPr/>
          </p:nvSpPr>
          <p:spPr>
            <a:xfrm>
              <a:off x="1675924" y="5124688"/>
              <a:ext cx="8997331" cy="52947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14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Increase marketing to reliable customer groups in top-performing states.</a:t>
              </a:r>
              <a:endParaRPr lang="en-US" sz="1400" dirty="0"/>
            </a:p>
          </p:txBody>
        </p:sp>
        <p:pic>
          <p:nvPicPr>
            <p:cNvPr id="15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17458" y="5625465"/>
              <a:ext cx="882134" cy="1058585"/>
            </a:xfrm>
            <a:prstGeom prst="rect">
              <a:avLst/>
            </a:prstGeom>
          </p:spPr>
        </p:pic>
        <p:sp>
          <p:nvSpPr>
            <p:cNvPr id="16" name="Text 9"/>
            <p:cNvSpPr/>
            <p:nvPr/>
          </p:nvSpPr>
          <p:spPr>
            <a:xfrm>
              <a:off x="1675924" y="5801797"/>
              <a:ext cx="2407563" cy="2756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ts val="2150"/>
                </a:lnSpc>
                <a:buNone/>
              </a:pPr>
              <a:r>
                <a:rPr lang="en-US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Diversify Loan Terms</a:t>
              </a:r>
              <a:endParaRPr lang="en-US" dirty="0"/>
            </a:p>
          </p:txBody>
        </p:sp>
        <p:sp>
          <p:nvSpPr>
            <p:cNvPr id="17" name="Text 10"/>
            <p:cNvSpPr/>
            <p:nvPr/>
          </p:nvSpPr>
          <p:spPr>
            <a:xfrm>
              <a:off x="1675924" y="6183273"/>
              <a:ext cx="8997331" cy="4232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14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Introduce more flexible loan durations to balance risk and customer needs.</a:t>
              </a:r>
              <a:endParaRPr lang="en-US" sz="1400" dirty="0"/>
            </a:p>
          </p:txBody>
        </p:sp>
        <p:pic>
          <p:nvPicPr>
            <p:cNvPr id="18" name="Image 5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17458" y="6684050"/>
              <a:ext cx="882134" cy="1058585"/>
            </a:xfrm>
            <a:prstGeom prst="rect">
              <a:avLst/>
            </a:prstGeom>
          </p:spPr>
        </p:pic>
        <p:sp>
          <p:nvSpPr>
            <p:cNvPr id="19" name="Text 11"/>
            <p:cNvSpPr/>
            <p:nvPr/>
          </p:nvSpPr>
          <p:spPr>
            <a:xfrm>
              <a:off x="1675924" y="6860381"/>
              <a:ext cx="3080266" cy="2756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ts val="2150"/>
                </a:lnSpc>
                <a:buNone/>
              </a:pPr>
              <a:r>
                <a:rPr lang="en-US" b="1" dirty="0">
                  <a:solidFill>
                    <a:srgbClr val="405449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Enhance Customer Support</a:t>
              </a:r>
              <a:endParaRPr lang="en-US" dirty="0"/>
            </a:p>
          </p:txBody>
        </p:sp>
        <p:sp>
          <p:nvSpPr>
            <p:cNvPr id="20" name="Text 12"/>
            <p:cNvSpPr/>
            <p:nvPr/>
          </p:nvSpPr>
          <p:spPr>
            <a:xfrm>
              <a:off x="1675924" y="7241858"/>
              <a:ext cx="8997331" cy="50077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1400" dirty="0">
                  <a:solidFill>
                    <a:srgbClr val="405449"/>
                  </a:solidFill>
                  <a:latin typeface="Nobile" pitchFamily="34" charset="0"/>
                  <a:ea typeface="Nobile" pitchFamily="34" charset="-122"/>
                  <a:cs typeface="Nobile" pitchFamily="34" charset="-120"/>
                </a:rPr>
                <a:t>Proactively assist at-risk borrowers to improve repayment rates.</a:t>
              </a:r>
              <a:endParaRPr lang="en-US" sz="1400" dirty="0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3004581" y="7909034"/>
              <a:ext cx="1797269" cy="47296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3641834" y="3159014"/>
            <a:ext cx="10988566" cy="5070586"/>
            <a:chOff x="3641834" y="3159014"/>
            <a:chExt cx="10988566" cy="5070586"/>
          </a:xfrm>
        </p:grpSpPr>
        <p:sp>
          <p:nvSpPr>
            <p:cNvPr id="2" name="Text 0"/>
            <p:cNvSpPr/>
            <p:nvPr/>
          </p:nvSpPr>
          <p:spPr>
            <a:xfrm>
              <a:off x="3641834" y="3159014"/>
              <a:ext cx="6840966" cy="210666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ts val="4300"/>
                </a:lnSpc>
                <a:buNone/>
              </a:pPr>
              <a:r>
                <a:rPr lang="en-US" sz="9600" b="1" dirty="0" smtClean="0">
                  <a:solidFill>
                    <a:srgbClr val="3B4540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Tha</a:t>
              </a:r>
              <a:r>
                <a:rPr lang="en-US" sz="9600" b="1" dirty="0" smtClean="0">
                  <a:solidFill>
                    <a:srgbClr val="3B4540"/>
                  </a:solidFill>
                  <a:latin typeface="Fraunces Extra Bold" pitchFamily="34" charset="0"/>
                  <a:ea typeface="Fraunces Extra Bold" pitchFamily="34" charset="-122"/>
                  <a:cs typeface="Fraunces Extra Bold" pitchFamily="34" charset="-120"/>
                </a:rPr>
                <a:t>nk You</a:t>
              </a:r>
              <a:endParaRPr lang="en-US" sz="9600" dirty="0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12833131" y="7756634"/>
              <a:ext cx="1797269" cy="472966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7482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644</Words>
  <Application>Microsoft Office PowerPoint</Application>
  <PresentationFormat>Custom</PresentationFormat>
  <Paragraphs>134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Fraunces Extra Bold</vt:lpstr>
      <vt:lpstr>Calibri</vt:lpstr>
      <vt:lpstr>Nobile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Microsoft account</cp:lastModifiedBy>
  <cp:revision>14</cp:revision>
  <dcterms:created xsi:type="dcterms:W3CDTF">2025-12-10T12:02:53Z</dcterms:created>
  <dcterms:modified xsi:type="dcterms:W3CDTF">2025-12-11T07:18:10Z</dcterms:modified>
</cp:coreProperties>
</file>